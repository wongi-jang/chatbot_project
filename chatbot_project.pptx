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97" r:id="rId3"/>
    <p:sldId id="298" r:id="rId4"/>
    <p:sldId id="300" r:id="rId5"/>
    <p:sldId id="299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3" r:id="rId18"/>
    <p:sldId id="314" r:id="rId19"/>
    <p:sldId id="318" r:id="rId20"/>
    <p:sldId id="315" r:id="rId21"/>
    <p:sldId id="316" r:id="rId22"/>
    <p:sldId id="31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4"/>
    <p:restoredTop sz="94712"/>
  </p:normalViewPr>
  <p:slideViewPr>
    <p:cSldViewPr snapToGrid="0">
      <p:cViewPr varScale="1">
        <p:scale>
          <a:sx n="214" d="100"/>
          <a:sy n="214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31905-2A8B-B849-B57D-0DB804BC7F7C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00733-F7BB-6E4D-BACD-84DE8CA81B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381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00733-F7BB-6E4D-BACD-84DE8CA81B75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07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C5E4E-26AD-9243-0A6F-9092FEF19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DF5B49-2D61-5A3C-FA95-69181AD71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B0472C-D0CE-A39F-5D8A-D9A0CDC9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2A1C7-6F94-F3B0-D905-D4690E1E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16AC8-5E16-7D8C-3AB4-BE3BC566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892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0DAB7-AFCC-008B-9ADD-74D9083D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1B0626-9519-A2BB-1968-BD93366AD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baseline="0">
                <a:latin typeface="Calibri" panose="020F0502020204030204" pitchFamily="34" charset="0"/>
              </a:defRPr>
            </a:lvl1pPr>
            <a:lvl2pPr>
              <a:lnSpc>
                <a:spcPct val="150000"/>
              </a:lnSpc>
              <a:defRPr baseline="0">
                <a:latin typeface="Calibri" panose="020F0502020204030204" pitchFamily="34" charset="0"/>
              </a:defRPr>
            </a:lvl2pPr>
            <a:lvl3pPr>
              <a:lnSpc>
                <a:spcPct val="150000"/>
              </a:lnSpc>
              <a:defRPr baseline="0">
                <a:latin typeface="Calibri" panose="020F0502020204030204" pitchFamily="34" charset="0"/>
              </a:defRPr>
            </a:lvl3pPr>
            <a:lvl4pPr>
              <a:lnSpc>
                <a:spcPct val="150000"/>
              </a:lnSpc>
              <a:defRPr baseline="0">
                <a:latin typeface="Calibri" panose="020F0502020204030204" pitchFamily="34" charset="0"/>
              </a:defRPr>
            </a:lvl4pPr>
            <a:lvl5pPr>
              <a:lnSpc>
                <a:spcPct val="150000"/>
              </a:lnSpc>
              <a:defRPr baseline="0">
                <a:latin typeface="Calibri" panose="020F0502020204030204" pitchFamily="34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7D695-DAAC-16AB-8DC2-345ECB75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8E309-C405-CFD7-F1A8-2A25D39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D401-9C66-DEDC-6F52-3B768A8A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477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42BEF-6F16-F60A-516A-747C1A61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99A656-1842-D5FA-1F61-0EA61D0F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C39F9-63E9-0D28-6C8D-E81759AD3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9521B3-5794-D193-7645-4727421F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30ABF-839D-B1A1-7C99-87C48811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662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4A10F-C6A3-C974-AD03-3650E046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24286-A004-DDAF-4DB3-C27936A28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B796D8-A763-5646-6E45-05DAE5FEC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4537E4-2FB3-A944-9184-7762767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89EA5C-67F9-0836-8210-0DD69F7B2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4ABC2D-C808-8828-EE2D-2E83C866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190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17422-7DE5-05CE-E1F1-CEEE00F7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4EC27-00E9-5955-7CD0-CB772F19E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70F8C0-1DAF-7ADF-8D87-784A3267C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20F602-3416-230D-CE3D-F3F764340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361050-88F6-718C-0D47-D6D4B5EA9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D49030-4B21-56EB-E3E4-51E5D09B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0DE8B9-84B8-3A24-6337-F0E29D12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B5CAF2-2480-9230-FEB2-8D10F5437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902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960DC-484D-EBC5-071A-0C330E2AB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19E92E-76C4-8872-755F-2F15DF7E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DD522E-B4D6-70CB-117F-E8EA25F0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824B7B-5E4C-A15B-6EB4-E95EFFC6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770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433118-450D-A769-5A96-B9D040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C1FEF4-4427-1C2B-CE71-CFE5D65F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D16CC-1EA8-4F89-6BDA-EBEF24B5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697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617DE-1535-EB7B-865A-E1A142EF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A2B97-C5DA-81BC-4737-C6601AC5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84AED4-8349-C624-D3BD-F2127CDC8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F2F190-A972-E0C0-169A-9BAF839C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2AE1EA-436E-4DA4-5622-52EB1B97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945808-DBD5-88DC-1BE1-C0F2B090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747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D2DC-92C8-A799-B946-1D4050AA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A314D4-60E3-D96B-4B60-E9E73C096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983AA-D1D1-DEDE-7E9C-69D04E5AF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475277-C83E-E03F-42CF-C613705B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6D0C41-21CB-B5AE-C8E6-12875D91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FD52C7-7469-5C85-AD6F-0C4003AF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88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94E3B-8B1E-C27D-A4AA-70D978A1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B00E1E-915F-3B6E-4A51-A9717B941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B59C2C-790C-DD22-7B0C-0AB51A8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84EAA-29B9-AFDB-C274-C6F39087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AAE2D-BA6E-80B4-1283-D9515451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395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4C4A43-C38D-7D0D-581D-97706281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F6757B-6C3C-BF08-9548-63EF1A97D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9C2151-3B1F-713D-DCAE-4EE640E3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8B3F2-22D0-0FFE-25CA-6D4D6C3E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95FA51-8B12-92B3-8EEF-B1BE724B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91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FD1CE8-D876-5733-3924-BBCF50BC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97D20A-5099-239F-0075-179F63F60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46F7F9-4048-63D4-79C8-7E73903F3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5FDD3-5E92-DD4A-89A3-60D1E6C9E024}" type="datetimeFigureOut">
              <a:rPr kumimoji="1" lang="ko-KR" altLang="en-US" smtClean="0"/>
              <a:t>2026. 2. 22.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06FA53-D8DB-722B-9B7D-882ADB1CE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D7479-4D3C-7739-7DBD-9C312BDC1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3396F-26DA-7441-B2A3-1B990A917E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44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BECA0-4540-11E1-167F-58BF4553B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RAG-based chatbot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E74D8D74-30A4-FCCC-90DE-62FE1D8F8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44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FDB2C-044C-5A4D-0846-11C59260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Motivation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5D8A5-7127-95CD-25C9-A5C3A4230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Develop a chatbot with high accuracy for prospective store owners</a:t>
            </a:r>
          </a:p>
          <a:p>
            <a:r>
              <a:rPr kumimoji="1" lang="en-US" altLang="ko-KR" dirty="0"/>
              <a:t>Requires many PDFs with long context</a:t>
            </a:r>
          </a:p>
          <a:p>
            <a:r>
              <a:rPr kumimoji="1" lang="en-US" altLang="ko-KR" dirty="0"/>
              <a:t>Data must contain updated information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46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8CBC9-EED5-307B-BEDA-C07A3BAC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RAG</a:t>
            </a:r>
            <a:endParaRPr kumimoji="1" lang="ko-KR" altLang="en-US" dirty="0"/>
          </a:p>
        </p:txBody>
      </p:sp>
      <p:pic>
        <p:nvPicPr>
          <p:cNvPr id="4" name="Picture 2" descr="Retrieval Augmented Generation (RAG) for LLMs | Prompt Engineering Guide">
            <a:extLst>
              <a:ext uri="{FF2B5EF4-FFF2-40B4-BE49-F238E27FC236}">
                <a16:creationId xmlns:a16="http://schemas.microsoft.com/office/drawing/2014/main" id="{16C0A7CC-AB48-DEA2-53D1-EF00E7603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452" y="1690688"/>
            <a:ext cx="7418687" cy="437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57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526C-0721-06E1-618D-0EF533B8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53900-3DE2-63D3-C6A1-6679F95D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RAG</a:t>
            </a:r>
            <a:endParaRPr kumimoji="1"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49FC6B9-3EFB-C5C0-59A3-854AB90D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Reduces hallucinations</a:t>
            </a:r>
          </a:p>
          <a:p>
            <a:r>
              <a:rPr kumimoji="1" lang="en-US" altLang="ko-KR" dirty="0"/>
              <a:t>Easy to update data</a:t>
            </a:r>
          </a:p>
          <a:p>
            <a:r>
              <a:rPr kumimoji="1" lang="en-US" altLang="ko-KR" dirty="0"/>
              <a:t>Possible to feed private documents</a:t>
            </a:r>
          </a:p>
          <a:p>
            <a:r>
              <a:rPr kumimoji="1" lang="en-US" altLang="ko-KR" dirty="0"/>
              <a:t>Cheaper than re-training a model</a:t>
            </a:r>
          </a:p>
        </p:txBody>
      </p:sp>
    </p:spTree>
    <p:extLst>
      <p:ext uri="{BB962C8B-B14F-4D97-AF65-F5344CB8AC3E}">
        <p14:creationId xmlns:p14="http://schemas.microsoft.com/office/powerpoint/2010/main" val="281891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A772A-404B-484B-FCB6-13A4FE5D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LangChain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LangGraph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DB382-F2A8-E9F3-0CCA-19A9574C7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/>
              <a:t>Framework for simplifying different LLM components</a:t>
            </a:r>
            <a:endParaRPr kumimoji="1" lang="ko-KR" altLang="en-US" dirty="0"/>
          </a:p>
        </p:txBody>
      </p:sp>
      <p:pic>
        <p:nvPicPr>
          <p:cNvPr id="1028" name="Picture 4" descr="Langchain and LangGraph - DEV Community">
            <a:extLst>
              <a:ext uri="{FF2B5EF4-FFF2-40B4-BE49-F238E27FC236}">
                <a16:creationId xmlns:a16="http://schemas.microsoft.com/office/drawing/2014/main" id="{C158DAFB-899D-C1A8-6040-98106F8DA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580" y="3000428"/>
            <a:ext cx="3934515" cy="324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orkflows and agents - Docs by LangChain">
            <a:extLst>
              <a:ext uri="{FF2B5EF4-FFF2-40B4-BE49-F238E27FC236}">
                <a16:creationId xmlns:a16="http://schemas.microsoft.com/office/drawing/2014/main" id="{36FA644D-088F-10CE-69EE-9383DD268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29" y="3448419"/>
            <a:ext cx="5711447" cy="234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94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3FC78-8377-BF03-C430-B0F467EE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Workflow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77E125-3650-C30F-705A-823F5EBE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1. Collect pdf documents (Franchise Disclosure Documents, Legal docs)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E2B5FB-1E34-199C-A470-3C538E9E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42" y="2867913"/>
            <a:ext cx="1811836" cy="37169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56202E-4C18-6A77-9355-9D2C2BE6E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500" y="2731323"/>
            <a:ext cx="2772999" cy="39901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1E233D-9166-7602-FD20-B9814FC3E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216" y="2775948"/>
            <a:ext cx="3331583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9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0466C-8E13-420D-9813-35A4FB46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BDB6BD-5E10-F609-FDBA-0D70E90FA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/>
              <a:t>2. Build vector store</a:t>
            </a:r>
          </a:p>
          <a:p>
            <a:pPr lvl="1"/>
            <a:r>
              <a:rPr kumimoji="1" lang="en-US" altLang="ko-KR"/>
              <a:t>Load documents</a:t>
            </a:r>
          </a:p>
          <a:p>
            <a:pPr lvl="1"/>
            <a:r>
              <a:rPr kumimoji="1" lang="en-US" altLang="ko-KR"/>
              <a:t>Split the texts into chunks, with small overlaps</a:t>
            </a:r>
          </a:p>
          <a:p>
            <a:pPr lvl="1"/>
            <a:r>
              <a:rPr kumimoji="1" lang="en-US" altLang="ko-KR"/>
              <a:t>Embed each chunks and store it in a vector database</a:t>
            </a:r>
            <a:endParaRPr kumimoji="1" lang="ko-KR" altLang="en-US" dirty="0"/>
          </a:p>
        </p:txBody>
      </p:sp>
      <p:pic>
        <p:nvPicPr>
          <p:cNvPr id="2050" name="Picture 2" descr="How to Chunk Documents for RAG | Multimodal posted on the topic | LinkedIn">
            <a:extLst>
              <a:ext uri="{FF2B5EF4-FFF2-40B4-BE49-F238E27FC236}">
                <a16:creationId xmlns:a16="http://schemas.microsoft.com/office/drawing/2014/main" id="{F9F1034B-5460-B859-2443-46C448516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217" y="4576693"/>
            <a:ext cx="3191566" cy="212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86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544A-297C-3517-F9D3-13D31B4C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84BFD-EE96-4448-CCE8-CBB273E8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48B56-65C8-9E92-A3EC-1ECEC12A7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3. Implement graph structure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7FA69E-E59B-6000-5098-E2528B394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942" y="2554907"/>
            <a:ext cx="2774115" cy="41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14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C58B-7B75-EF6D-5346-5B15ECD3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F7830-F7DE-74C5-2E70-8D4CD9AA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FD09CA-6D5A-6395-4102-6015B4762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373" y="1690688"/>
            <a:ext cx="7124895" cy="4347915"/>
          </a:xfrm>
        </p:spPr>
        <p:txBody>
          <a:bodyPr>
            <a:normAutofit/>
          </a:bodyPr>
          <a:lstStyle/>
          <a:p>
            <a:r>
              <a:rPr kumimoji="1" lang="en-US" altLang="ko-KR" sz="2400" dirty="0"/>
              <a:t>User input</a:t>
            </a:r>
          </a:p>
          <a:p>
            <a:pPr marL="0" indent="0">
              <a:buNone/>
            </a:pPr>
            <a:r>
              <a:rPr lang="ko-KR" altLang="en-US" sz="1600" dirty="0" err="1">
                <a:cs typeface="Calibri" panose="020F0502020204030204" pitchFamily="34" charset="0"/>
              </a:rPr>
              <a:t>더벤티의</a:t>
            </a:r>
            <a:r>
              <a:rPr lang="ko-KR" altLang="en-US" sz="1600" dirty="0">
                <a:cs typeface="Calibri" panose="020F0502020204030204" pitchFamily="34" charset="0"/>
              </a:rPr>
              <a:t> 최근 </a:t>
            </a:r>
            <a:r>
              <a:rPr lang="en-US" altLang="ko-KR" sz="1600" dirty="0">
                <a:cs typeface="Calibri" panose="020F0502020204030204" pitchFamily="34" charset="0"/>
              </a:rPr>
              <a:t>3</a:t>
            </a:r>
            <a:r>
              <a:rPr lang="ko-KR" altLang="en-US" sz="1600" dirty="0">
                <a:cs typeface="Calibri" panose="020F0502020204030204" pitchFamily="34" charset="0"/>
              </a:rPr>
              <a:t>년간 전체 가맹점 수와 영업 중인 가맹점 수를 알고 싶습니다</a:t>
            </a:r>
            <a:r>
              <a:rPr lang="en-US" altLang="ko-KR" sz="1600" dirty="0">
                <a:cs typeface="Calibri" panose="020F0502020204030204" pitchFamily="34" charset="0"/>
              </a:rPr>
              <a:t>.</a:t>
            </a:r>
            <a:endParaRPr kumimoji="1" lang="en-US" altLang="ko-KR" sz="1600" dirty="0">
              <a:cs typeface="Calibri" panose="020F0502020204030204" pitchFamily="34" charset="0"/>
            </a:endParaRPr>
          </a:p>
          <a:p>
            <a:r>
              <a:rPr kumimoji="1" lang="en-US" altLang="ko-KR" sz="2400" dirty="0"/>
              <a:t>Routing</a:t>
            </a:r>
          </a:p>
          <a:p>
            <a:pPr marL="0" indent="0">
              <a:buNone/>
            </a:pPr>
            <a:r>
              <a:rPr kumimoji="1" lang="en-US" altLang="ko-KR" sz="1600" dirty="0"/>
              <a:t>Decides next step based on user input</a:t>
            </a:r>
          </a:p>
          <a:p>
            <a:pPr marL="0" indent="0">
              <a:buNone/>
            </a:pPr>
            <a:r>
              <a:rPr kumimoji="1" lang="en-US" altLang="ko-KR" sz="1600" dirty="0"/>
              <a:t>Need to search DB -&gt; </a:t>
            </a:r>
            <a:r>
              <a:rPr kumimoji="1" lang="en-US" altLang="ko-KR" sz="1600" dirty="0" err="1"/>
              <a:t>query_gen</a:t>
            </a:r>
            <a:r>
              <a:rPr kumimoji="1" lang="en-US" altLang="ko-KR" sz="1600" dirty="0"/>
              <a:t> (franchise/law)</a:t>
            </a:r>
          </a:p>
          <a:p>
            <a:pPr marL="0" indent="0">
              <a:buNone/>
            </a:pPr>
            <a:r>
              <a:rPr kumimoji="1" lang="en-US" altLang="ko-KR" sz="1600" dirty="0"/>
              <a:t>No need to search -&gt; answer</a:t>
            </a:r>
          </a:p>
          <a:p>
            <a:pPr lvl="1"/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A05B27-2AF8-D91A-839B-690F952DF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FC0787D-30E6-E4DB-E18A-A24A6C78DB54}"/>
              </a:ext>
            </a:extLst>
          </p:cNvPr>
          <p:cNvSpPr/>
          <p:nvPr/>
        </p:nvSpPr>
        <p:spPr>
          <a:xfrm>
            <a:off x="1615045" y="2907738"/>
            <a:ext cx="445324" cy="296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760889-8EF2-3AE4-7BA9-02E4788B33D4}"/>
              </a:ext>
            </a:extLst>
          </p:cNvPr>
          <p:cNvSpPr/>
          <p:nvPr/>
        </p:nvSpPr>
        <p:spPr>
          <a:xfrm>
            <a:off x="2390899" y="2200892"/>
            <a:ext cx="595746" cy="29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8E7A68-29FF-FC2B-9DB6-09BCE8333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143" y="4614058"/>
            <a:ext cx="4107873" cy="214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2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98F7-27B8-942C-A876-A6D6F22C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2DCD4-1345-E509-03B1-7676A448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5C98CD-7389-494E-0308-7E7B0AF27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B41B37A-27FE-63DA-A1DA-FD1C39279610}"/>
              </a:ext>
            </a:extLst>
          </p:cNvPr>
          <p:cNvSpPr/>
          <p:nvPr/>
        </p:nvSpPr>
        <p:spPr>
          <a:xfrm>
            <a:off x="884712" y="5027219"/>
            <a:ext cx="599704" cy="29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CBBFED0-3DEC-CAA5-6DA6-A7BA03F897B2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 err="1"/>
              <a:t>Query_gen</a:t>
            </a:r>
            <a:endParaRPr kumimoji="1" lang="en-US" altLang="ko-KR" sz="2400" dirty="0"/>
          </a:p>
          <a:p>
            <a:pPr marL="0" indent="0">
              <a:buNone/>
            </a:pPr>
            <a:r>
              <a:rPr kumimoji="1" lang="en-US" altLang="ko-KR" sz="1600" dirty="0"/>
              <a:t>Generate queries to find information in vector database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FE1D28-8A38-77EE-81E4-695A866A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651" y="3429000"/>
            <a:ext cx="4572510" cy="27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5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B4D7-5A63-6797-7AA5-3BCF27F5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22CE7-7AB7-E47C-B45B-EA4F9C7F8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E01119-4BAB-53E1-C49D-95C146D3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89CA0A-8DDC-378D-3BF6-1D1EF76581CD}"/>
              </a:ext>
            </a:extLst>
          </p:cNvPr>
          <p:cNvSpPr/>
          <p:nvPr/>
        </p:nvSpPr>
        <p:spPr>
          <a:xfrm>
            <a:off x="1353787" y="5591297"/>
            <a:ext cx="475013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91BE53A-99FD-3A8C-C3E4-761F2884DC2C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Retrieve</a:t>
            </a:r>
          </a:p>
          <a:p>
            <a:pPr marL="0" indent="0">
              <a:buNone/>
            </a:pPr>
            <a:r>
              <a:rPr kumimoji="1" lang="en-US" altLang="ko-KR" sz="1600" dirty="0"/>
              <a:t>Based on generated queries, retrieve relevant pdf chunks from database</a:t>
            </a:r>
          </a:p>
          <a:p>
            <a:pPr marL="0" indent="0">
              <a:buNone/>
            </a:pPr>
            <a:r>
              <a:rPr kumimoji="1" lang="en-US" altLang="ko-KR" sz="1600" dirty="0"/>
              <a:t>Relevance is based on similarity scores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4C61E5-D890-70AF-9F4E-05412ED2B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949" y="3429000"/>
            <a:ext cx="5076696" cy="315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51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39A6-EE9A-B51D-86F6-06FF0F57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824E7-C3E8-0A1B-F98D-641B3BD4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E21F6F-76E6-5107-DB3B-062BA450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F56906E-57ED-5FA5-FDCB-FCDEF0BAF8F0}"/>
              </a:ext>
            </a:extLst>
          </p:cNvPr>
          <p:cNvSpPr/>
          <p:nvPr/>
        </p:nvSpPr>
        <p:spPr>
          <a:xfrm>
            <a:off x="1353787" y="5591297"/>
            <a:ext cx="475013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CD71491-F32D-03EF-88F0-6C7E6A234824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Retrieve</a:t>
            </a:r>
          </a:p>
          <a:p>
            <a:pPr marL="0" indent="0">
              <a:buNone/>
            </a:pPr>
            <a:r>
              <a:rPr kumimoji="1" lang="en-US" altLang="ko-KR" sz="1600" dirty="0"/>
              <a:t>Parent-based retriever</a:t>
            </a:r>
          </a:p>
        </p:txBody>
      </p:sp>
      <p:pic>
        <p:nvPicPr>
          <p:cNvPr id="7172" name="Picture 4" descr="How Parent Document Retrieval helps RAG applications | Pavan Belagatti  posted on the topic | LinkedIn">
            <a:extLst>
              <a:ext uri="{FF2B5EF4-FFF2-40B4-BE49-F238E27FC236}">
                <a16:creationId xmlns:a16="http://schemas.microsoft.com/office/drawing/2014/main" id="{27A536F4-28E5-FAAD-18FE-6208E3FF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348" y="3016251"/>
            <a:ext cx="4571999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760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211E-C5ED-7B29-917D-96991E02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4269E-3932-183F-D6A7-43176AE9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EEF4E0-BC8D-54CA-02B3-F3641365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9D7CF3-44B1-A2C3-8BBA-57AA365BF68C}"/>
              </a:ext>
            </a:extLst>
          </p:cNvPr>
          <p:cNvSpPr/>
          <p:nvPr/>
        </p:nvSpPr>
        <p:spPr>
          <a:xfrm>
            <a:off x="3390405" y="6161312"/>
            <a:ext cx="504701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9C832B9-BACC-069D-538D-0079C8203C81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Relevant</a:t>
            </a:r>
          </a:p>
          <a:p>
            <a:pPr marL="0" indent="0">
              <a:buNone/>
            </a:pPr>
            <a:r>
              <a:rPr kumimoji="1" lang="en-US" altLang="ko-KR" sz="1600" dirty="0"/>
              <a:t>Read the retrieved documents and check if it is actually relevant with the query</a:t>
            </a:r>
          </a:p>
          <a:p>
            <a:pPr marL="0" indent="0">
              <a:buNone/>
            </a:pPr>
            <a:r>
              <a:rPr kumimoji="1" lang="en-US" altLang="ko-KR" sz="1600" dirty="0"/>
              <a:t>Relevant -&gt; answer</a:t>
            </a:r>
          </a:p>
          <a:p>
            <a:pPr marL="0" indent="0">
              <a:buNone/>
            </a:pPr>
            <a:r>
              <a:rPr kumimoji="1" lang="en-US" altLang="ko-KR" sz="1600" dirty="0"/>
              <a:t>Not relevant -&gt; </a:t>
            </a:r>
            <a:r>
              <a:rPr kumimoji="1" lang="en-US" altLang="ko-KR" sz="1600" dirty="0" err="1"/>
              <a:t>requery</a:t>
            </a: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DB44E8-163D-B05A-C6D8-4AC10FA2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229" y="3864645"/>
            <a:ext cx="4530136" cy="278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14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DAB8-1101-C373-4574-F45AEF2C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ABD1A-D780-2D76-1128-DDE221B0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B27052-64B8-803C-A8CE-2697A7083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8252305-48F8-8732-C701-9DD9D749761E}"/>
              </a:ext>
            </a:extLst>
          </p:cNvPr>
          <p:cNvSpPr/>
          <p:nvPr/>
        </p:nvSpPr>
        <p:spPr>
          <a:xfrm>
            <a:off x="2095996" y="3631095"/>
            <a:ext cx="457200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4546D89-82A5-41D2-3C27-50CD020A3166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Answer</a:t>
            </a:r>
          </a:p>
          <a:p>
            <a:pPr marL="0" indent="0">
              <a:buNone/>
            </a:pPr>
            <a:r>
              <a:rPr kumimoji="1" lang="en-US" altLang="ko-KR" sz="1600" dirty="0"/>
              <a:t>Based on prompt, user input, retrieved documents, output answer for users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F23390-DF32-DF9A-81FB-BF3FDDF50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838" y="3429000"/>
            <a:ext cx="5304569" cy="24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9BD4-2C4A-DD65-3193-38D04D1D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B28F3-0736-FC99-431A-68C6E9F9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D7A927-1AE6-7434-E795-9064DF8D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AAA1D39-90F3-F0C4-E890-991B0E65F037}"/>
              </a:ext>
            </a:extLst>
          </p:cNvPr>
          <p:cNvSpPr/>
          <p:nvPr/>
        </p:nvSpPr>
        <p:spPr>
          <a:xfrm>
            <a:off x="1715985" y="4319864"/>
            <a:ext cx="593766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2E3347E-5232-DB6D-157D-D95B0C5BBB9B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4347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Supporting</a:t>
            </a:r>
          </a:p>
          <a:p>
            <a:pPr marL="0" indent="0">
              <a:buNone/>
            </a:pPr>
            <a:r>
              <a:rPr kumimoji="1" lang="en-US" altLang="ko-KR" sz="1600" dirty="0"/>
              <a:t>Check whether the answer has hallucination, and outputs a feedback</a:t>
            </a:r>
          </a:p>
          <a:p>
            <a:endParaRPr kumimoji="1" lang="en-US" altLang="ko-KR" sz="2400" dirty="0"/>
          </a:p>
          <a:p>
            <a:endParaRPr kumimoji="1"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8EC30F-A38A-D091-ADE3-BA7BAF2F2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73" y="3809211"/>
            <a:ext cx="6162304" cy="188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88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6CFE-0BD0-5810-B950-AAF2BC3A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26A6A-9740-BA94-2EBA-B1FFA018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FE0CAC-E76F-5A46-4855-EC7D4F93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14880E-4EAF-B3F0-B1A4-CB6989D0A1CE}"/>
              </a:ext>
            </a:extLst>
          </p:cNvPr>
          <p:cNvSpPr/>
          <p:nvPr/>
        </p:nvSpPr>
        <p:spPr>
          <a:xfrm>
            <a:off x="1775362" y="5026446"/>
            <a:ext cx="480950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A93F9B1-91AB-E9A1-3C49-AF15E0CE79F7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5036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 err="1"/>
              <a:t>Requery</a:t>
            </a:r>
            <a:endParaRPr kumimoji="1" lang="en-US" altLang="ko-KR" sz="2400" dirty="0"/>
          </a:p>
          <a:p>
            <a:pPr marL="0" indent="0">
              <a:buNone/>
            </a:pPr>
            <a:r>
              <a:rPr kumimoji="1" lang="en-US" altLang="ko-KR" sz="1600" dirty="0"/>
              <a:t>Based on feedback (relevant, supporting), rewrite an improved query</a:t>
            </a:r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</p:txBody>
      </p:sp>
      <p:pic>
        <p:nvPicPr>
          <p:cNvPr id="8" name="그림 7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8A00DD-A4D6-E53E-CDBC-D6BD527CD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249" y="3644982"/>
            <a:ext cx="3905221" cy="2559657"/>
          </a:xfrm>
          <a:prstGeom prst="rect">
            <a:avLst/>
          </a:prstGeom>
        </p:spPr>
      </p:pic>
      <p:pic>
        <p:nvPicPr>
          <p:cNvPr id="11" name="그림 10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4DDA4B-68DA-86B1-3162-7D3423ACA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559" y="3644981"/>
            <a:ext cx="3812441" cy="25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44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A7B1-448C-EFCB-EC5A-7A1AAB82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DB04E-3BAF-38A9-5FFA-4DA6C3C8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0CA5D4-F3F1-B9FC-7286-46B2D6EE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485"/>
            <a:ext cx="3243505" cy="48823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707D13A-D902-A33F-142B-99EFC21C8608}"/>
              </a:ext>
            </a:extLst>
          </p:cNvPr>
          <p:cNvSpPr/>
          <p:nvPr/>
        </p:nvSpPr>
        <p:spPr>
          <a:xfrm>
            <a:off x="3021066" y="5026446"/>
            <a:ext cx="610030" cy="28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873F879-30EF-2A07-D588-69A0E7F163A6}"/>
              </a:ext>
            </a:extLst>
          </p:cNvPr>
          <p:cNvSpPr txBox="1">
            <a:spLocks/>
          </p:cNvSpPr>
          <p:nvPr/>
        </p:nvSpPr>
        <p:spPr>
          <a:xfrm>
            <a:off x="4946373" y="1690688"/>
            <a:ext cx="7124895" cy="5036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400" dirty="0"/>
              <a:t>summarize</a:t>
            </a:r>
          </a:p>
          <a:p>
            <a:pPr marL="0" indent="0">
              <a:buNone/>
            </a:pPr>
            <a:r>
              <a:rPr kumimoji="1" lang="en-US" altLang="ko-KR" sz="1600" dirty="0"/>
              <a:t>If the answer is fully supported, store the </a:t>
            </a:r>
            <a:r>
              <a:rPr kumimoji="1" lang="en-US" altLang="ko-KR" sz="1600" dirty="0" err="1"/>
              <a:t>question+answer</a:t>
            </a:r>
            <a:r>
              <a:rPr kumimoji="1" lang="en-US" altLang="ko-KR" sz="1600" dirty="0"/>
              <a:t> as a context</a:t>
            </a:r>
          </a:p>
          <a:p>
            <a:pPr marL="0" indent="0">
              <a:buNone/>
            </a:pPr>
            <a:r>
              <a:rPr kumimoji="1" lang="en-US" altLang="ko-KR" sz="1600" dirty="0"/>
              <a:t>Proceed to the next input </a:t>
            </a:r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sz="16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1C43F87-5115-F981-5956-D87AF5B1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905" y="3429000"/>
            <a:ext cx="5608982" cy="13931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408F19-A10E-1460-C299-413EBC9B2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296" y="4913519"/>
            <a:ext cx="4065105" cy="189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79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75F2B-0C77-7B2F-7419-D9C908A5F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Workflow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0BD043-550D-F79B-8412-774E5E283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922" y="2288963"/>
            <a:ext cx="5251901" cy="27137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E17B97-E232-14E7-05C5-09ADC894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09" y="2302215"/>
            <a:ext cx="6007628" cy="269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14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B33F-1B01-EF47-33C0-DD1DCC84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7F1E3-3382-74B5-B608-882F78A9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Workflow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485388-A8F7-585E-4C23-568B9EB5B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13630"/>
            <a:ext cx="7772400" cy="3229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443DAD-C2E8-B378-A484-CC0487B33C8F}"/>
              </a:ext>
            </a:extLst>
          </p:cNvPr>
          <p:cNvSpPr txBox="1"/>
          <p:nvPr/>
        </p:nvSpPr>
        <p:spPr>
          <a:xfrm>
            <a:off x="771896" y="5717969"/>
            <a:ext cx="5744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Query, Relevant nodes takes a long time: Use good models!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854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3E9E4-69EC-9179-EDE5-698D8A8D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F9B81-1BBA-529E-1B28-516EC7772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Retrieve</a:t>
            </a:r>
          </a:p>
          <a:p>
            <a:pPr lvl="1"/>
            <a:r>
              <a:rPr kumimoji="1" lang="en-US" altLang="ko-KR" dirty="0"/>
              <a:t>Sometimes the retriever can’t find relevant documents</a:t>
            </a:r>
          </a:p>
          <a:p>
            <a:pPr lvl="1"/>
            <a:r>
              <a:rPr kumimoji="1" lang="en-US" altLang="ko-KR" dirty="0"/>
              <a:t>Wrong numbers in complex tables</a:t>
            </a:r>
          </a:p>
          <a:p>
            <a:pPr lvl="1"/>
            <a:r>
              <a:rPr kumimoji="1" lang="en-US" altLang="ko-KR" dirty="0"/>
              <a:t>Try various pdf loaders, change chunking methods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DD5DF1-8CAB-D692-E732-A05B35A9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09" y="4331318"/>
            <a:ext cx="3288781" cy="23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0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1BB72-F2B3-F09D-960C-8D00EB0B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840FC7-06EA-C016-7804-65066050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Evaluation</a:t>
            </a:r>
          </a:p>
          <a:p>
            <a:pPr lvl="1"/>
            <a:r>
              <a:rPr kumimoji="1" lang="en-US" altLang="ko-KR" dirty="0"/>
              <a:t>Make benchmark Q&amp;As</a:t>
            </a:r>
          </a:p>
          <a:p>
            <a:pPr lvl="1"/>
            <a:r>
              <a:rPr kumimoji="1" lang="en-US" altLang="ko-KR" dirty="0"/>
              <a:t>How to evaluate them? Human or LLM?</a:t>
            </a:r>
          </a:p>
          <a:p>
            <a:r>
              <a:rPr kumimoji="1" lang="en-US" altLang="ko-KR" dirty="0"/>
              <a:t>Complicated questions</a:t>
            </a:r>
          </a:p>
          <a:p>
            <a:pPr lvl="1"/>
            <a:r>
              <a:rPr kumimoji="1" lang="en-US" altLang="ko-KR" dirty="0"/>
              <a:t>Prompting will be important</a:t>
            </a:r>
          </a:p>
          <a:p>
            <a:pPr lvl="1"/>
            <a:r>
              <a:rPr kumimoji="1" lang="en-US" altLang="ko-KR" dirty="0"/>
              <a:t>Use enhanced, diverse models in each node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5596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48E51-735D-B61E-74CB-3D807AD5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85C05-27BE-429E-7B7B-49C47B35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D9D2FD-4AD2-DAAB-7F3D-109CE8CA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Data problems</a:t>
            </a:r>
          </a:p>
          <a:p>
            <a:pPr lvl="1"/>
            <a:r>
              <a:rPr kumimoji="1" lang="en-US" altLang="ko-KR" dirty="0"/>
              <a:t>Can only access public data</a:t>
            </a:r>
          </a:p>
          <a:p>
            <a:pPr lvl="1"/>
            <a:r>
              <a:rPr kumimoji="1" lang="en-US" altLang="ko-KR" dirty="0"/>
              <a:t>In real applications, more data will be needed</a:t>
            </a:r>
          </a:p>
          <a:p>
            <a:pPr lvl="1"/>
            <a:r>
              <a:rPr kumimoji="1" lang="en-US" altLang="ko-KR" dirty="0"/>
              <a:t>For a huge database, will it work well?</a:t>
            </a:r>
          </a:p>
          <a:p>
            <a:pPr lvl="1"/>
            <a:r>
              <a:rPr kumimoji="1" lang="en-US" altLang="ko-KR" dirty="0"/>
              <a:t>Link with web-search agent</a:t>
            </a:r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lvl="1"/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127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364</Words>
  <Application>Microsoft Macintosh PowerPoint</Application>
  <PresentationFormat>와이드스크린</PresentationFormat>
  <Paragraphs>95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테마</vt:lpstr>
      <vt:lpstr>RAG-based chatbot</vt:lpstr>
      <vt:lpstr>Motivation</vt:lpstr>
      <vt:lpstr>RAG</vt:lpstr>
      <vt:lpstr>RAG</vt:lpstr>
      <vt:lpstr>LangChain, LangGraph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Workflow</vt:lpstr>
      <vt:lpstr>Limitations</vt:lpstr>
      <vt:lpstr>Limitations</vt:lpstr>
      <vt:lpstr>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장원기</dc:creator>
  <cp:keywords/>
  <dc:description/>
  <cp:lastModifiedBy>장원기</cp:lastModifiedBy>
  <cp:revision>16</cp:revision>
  <dcterms:created xsi:type="dcterms:W3CDTF">2026-01-20T04:24:10Z</dcterms:created>
  <dcterms:modified xsi:type="dcterms:W3CDTF">2026-02-22T07:02:10Z</dcterms:modified>
  <cp:category/>
</cp:coreProperties>
</file>